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Average Sleep Hours by Day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Sleep Hours</c:v>
                </c:pt>
              </c:strCache>
            </c:strRef>
          </c:tx>
          <c:spPr>
            <a:solidFill>
              <a:srgbClr val="4A9F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9F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7B5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Non-Work Days</c:v>
                  </c:pt>
                  <c:pt idx="1">
                    <c:v>Work Days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6.88</c:v>
                </c:pt>
                <c:pt idx="1">
                  <c:v>8.05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Sleep Hours Over Time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 Days</c:v>
                </c:pt>
              </c:strCache>
            </c:strRef>
          </c:tx>
          <c:spPr>
            <a:solidFill>
              <a:srgbClr val="E07B54"/>
            </a:solidFill>
            <a:ln w="31750" cap="flat">
              <a:solidFill>
                <a:srgbClr val="E07B5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7B54"/>
              </a:solidFill>
              <a:ln w="9525" cap="flat">
                <a:solidFill>
                  <a:srgbClr val="E07B5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4/6</c:v>
                  </c:pt>
                  <c:pt idx="1">
                    <c:v>4/8</c:v>
                  </c:pt>
                  <c:pt idx="2">
                    <c:v>4/9</c:v>
                  </c:pt>
                  <c:pt idx="3">
                    <c:v>4/10</c:v>
                  </c:pt>
                  <c:pt idx="4">
                    <c:v>4/12</c:v>
                  </c:pt>
                  <c:pt idx="5">
                    <c:v>4/13</c:v>
                  </c:pt>
                  <c:pt idx="6">
                    <c:v>4/16</c:v>
                  </c:pt>
                  <c:pt idx="7">
                    <c:v>4/17</c:v>
                  </c:pt>
                  <c:pt idx="8">
                    <c:v>4/18</c:v>
                  </c:pt>
                  <c:pt idx="9">
                    <c:v>4/19</c:v>
                  </c:pt>
                  <c:pt idx="10">
                    <c:v>4/20</c:v>
                  </c:pt>
                  <c:pt idx="11">
                    <c:v>4/23</c:v>
                  </c:pt>
                  <c:pt idx="12">
                    <c:v>4/24</c:v>
                  </c:pt>
                  <c:pt idx="13">
                    <c:v>4/26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6</c:v>
                </c:pt>
                <c:pt idx="1">
                  <c:v>9.25</c:v>
                </c:pt>
                <c:pt idx="2">
                  <c:v>8</c:v>
                </c:pt>
                <c:pt idx="3">
                  <c:v>9</c:v>
                </c:pt>
                <c:pt idx="4">
                  <c:v>8.02</c:v>
                </c:pt>
                <c:pt idx="5">
                  <c:v>8</c:v>
                </c:pt>
                <c:pt idx="6">
                  <c:v>4.5</c:v>
                </c:pt>
                <c:pt idx="7">
                  <c:v>7.5</c:v>
                </c:pt>
                <c:pt idx="8">
                  <c:v>8.66</c:v>
                </c:pt>
                <c:pt idx="9">
                  <c:v>9</c:v>
                </c:pt>
                <c:pt idx="10">
                  <c:v>8.82</c:v>
                </c:pt>
                <c:pt idx="11">
                  <c:v>8.82</c:v>
                </c:pt>
                <c:pt idx="12">
                  <c:v>8.17</c:v>
                </c:pt>
                <c:pt idx="13">
                  <c:v>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Non-Work Days</c:v>
                </c:pt>
              </c:strCache>
            </c:strRef>
          </c:tx>
          <c:spPr>
            <a:solidFill>
              <a:srgbClr val="4A9F7B"/>
            </a:solidFill>
            <a:ln w="31750" cap="flat">
              <a:solidFill>
                <a:srgbClr val="4A9F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9F7B"/>
              </a:solidFill>
              <a:ln w="9525" cap="flat">
                <a:solidFill>
                  <a:srgbClr val="4A9F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4/7</c:v>
                  </c:pt>
                  <c:pt idx="1">
                    <c:v>4/11</c:v>
                  </c:pt>
                  <c:pt idx="2">
                    <c:v>4/14</c:v>
                  </c:pt>
                  <c:pt idx="3">
                    <c:v>4/15</c:v>
                  </c:pt>
                  <c:pt idx="4">
                    <c:v>4/21</c:v>
                  </c:pt>
                  <c:pt idx="5">
                    <c:v>4/22</c:v>
                  </c:pt>
                  <c:pt idx="6">
                    <c:v>4/25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</c:v>
                </c:pt>
                <c:pt idx="1">
                  <c:v>6.27</c:v>
                </c:pt>
                <c:pt idx="2">
                  <c:v>8.25</c:v>
                </c:pt>
                <c:pt idx="3">
                  <c:v>7.5</c:v>
                </c:pt>
                <c:pt idx="4">
                  <c:v>8</c:v>
                </c:pt>
                <c:pt idx="5">
                  <c:v>7</c:v>
                </c:pt>
                <c:pt idx="6">
                  <c:v>5.15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2E5FA3">
              <a:alpha val="30000"/>
            </a:srgbClr>
          </a:solidFill>
          <a:ln w="12700">
            <a:solidFill>
              <a:srgbClr val="2E5FA3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4A9FD4">
              <a:alpha val="20000"/>
            </a:srgbClr>
          </a:solidFill>
          <a:ln w="12700">
            <a:solidFill>
              <a:srgbClr val="4A9FD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211 – Course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Tracker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Days vs. Non-Work Days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200400" cy="4572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6 – April 26, 2026  |  21 Days of Data  |  Spring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8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the Dear Data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109728" cy="10972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 Why Sleep?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health experts recommend 7–9 hours of sleep per night. Sleep directly impacts energy, focus, and overall health.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359152"/>
            <a:ext cx="85039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59152"/>
            <a:ext cx="109728" cy="10972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505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Why This Topic?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81635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student who also works, I wanted to find out if my schedule was actually affecting how much sleep I was getting.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621024"/>
            <a:ext cx="85039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621024"/>
            <a:ext cx="109728" cy="10972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1246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I Did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07822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21 days, I recorded my bedtime and wake-up time every day, then compared sleep hours between Work Days and Non-Work Days.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&amp; Hypotheses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solidFill>
            <a:srgbClr val="EBF3FB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1556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Research Question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35608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significant difference in the average hours of sleep between work days and non-work days?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76272"/>
            <a:ext cx="4023360" cy="1463040"/>
          </a:xfrm>
          <a:prstGeom prst="rect">
            <a:avLst/>
          </a:prstGeom>
          <a:solidFill>
            <a:srgbClr val="EEF6FF"/>
          </a:solidFill>
          <a:ln w="12700">
            <a:solidFill>
              <a:srgbClr val="2E5FA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76272"/>
            <a:ext cx="109728" cy="146304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40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Null Hypothesis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significant difference in the average hours of sleep between work days and non-work days.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176272"/>
            <a:ext cx="4023360" cy="1463040"/>
          </a:xfrm>
          <a:prstGeom prst="rect">
            <a:avLst/>
          </a:prstGeom>
          <a:solidFill>
            <a:srgbClr val="FFF4EE"/>
          </a:solidFill>
          <a:ln w="12700">
            <a:solidFill>
              <a:srgbClr val="E07B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176272"/>
            <a:ext cx="109728" cy="1463040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240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Alternative Hypothesis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606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sleep significantly fewer hours on work days than on non-work days.  (One-tailed)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794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level:  α = 0.05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Method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02336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109728" cy="15544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161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Time Period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6 – April 26, 2026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consecutive days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02336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51560"/>
            <a:ext cx="109728" cy="15544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1161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Variables Tracked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0328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Bedtime, Wake-up time,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sleep hours (decimal)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743200"/>
            <a:ext cx="402336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743200"/>
            <a:ext cx="109728" cy="15544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852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Day Classification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" y="3246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Day = School or Work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Non-Work Day = Day Off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743200"/>
            <a:ext cx="402336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743200"/>
            <a:ext cx="109728" cy="15544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2852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Recording Method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0328" y="3246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logged every day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Excel spreadsheet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(n = 21 days)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60120"/>
          <a:ext cx="8686800" cy="397764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1188720"/>
                <a:gridCol w="1097280"/>
                <a:gridCol w="1188720"/>
                <a:gridCol w="1554480"/>
              </a:tblGrid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of Week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Wake-Up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(hrs)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A3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11:30pm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5:30am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7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Tuesday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11:40pm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5:40am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9F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Wednesday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10:45pm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8:00am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7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Thursday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7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7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11:24pm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5:40am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9F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8:12am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7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8:00am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7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Tuesday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8:15am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9F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Wednesday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1:30am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9F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Thursday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4:30am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7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5:30am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7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8:40am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7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7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11:45pm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8:11am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7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Tuesday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8:00am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9F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Wednesday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5:00am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9F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Thursday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11:23pm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8:10am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7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8:10am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7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11:30pm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4:45am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9F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4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07B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3840480"/>
          </a:xfrm>
          <a:prstGeom prst="rect">
            <a:avLst/>
          </a:prstGeom>
          <a:solidFill>
            <a:srgbClr val="FEF3EC"/>
          </a:solidFill>
          <a:ln w="12700">
            <a:solidFill>
              <a:srgbClr val="E07B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023360" cy="548640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Days  (n = 14)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06040" y="1691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8.05 hrs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29514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229514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8.41 hrs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8986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89864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 hrs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50215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350215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 hrs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10565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410565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9.25 hrs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00600" y="1005840"/>
            <a:ext cx="4023360" cy="3840480"/>
          </a:xfrm>
          <a:prstGeom prst="rect">
            <a:avLst/>
          </a:prstGeom>
          <a:solidFill>
            <a:srgbClr val="EDFAF4"/>
          </a:solidFill>
          <a:ln w="12700">
            <a:solidFill>
              <a:srgbClr val="4A9F7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005840"/>
            <a:ext cx="4023360" cy="548640"/>
          </a:xfrm>
          <a:prstGeom prst="rect">
            <a:avLst/>
          </a:prstGeom>
          <a:solidFill>
            <a:srgbClr val="4A9F7B"/>
          </a:solidFill>
          <a:ln w="12700">
            <a:solidFill>
              <a:srgbClr val="4A9F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005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Non-Work Days  (n = 7)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95160" y="1691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A9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6.88 hrs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83480" y="229514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229514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A9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7.00 hrs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83480" y="28986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289864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A9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 hrs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83480" y="350215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350215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A9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5.15 hrs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83480" y="410565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410565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A9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8.25 hrs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206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005840"/>
          <a:ext cx="4206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 – One-Tailed Welch t-Test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Test?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groups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hypothesis (one-tailed)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numeric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Welch's: safer for unequal group sizes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251960" cy="2103120"/>
          </a:xfrm>
          <a:prstGeom prst="rect">
            <a:avLst/>
          </a:prstGeom>
          <a:solidFill>
            <a:srgbClr val="1E2D3D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1417320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t.test(Sleep_Hours ~ Day_Type,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data        = sleep_data,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alternative = "greater")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3291840"/>
            <a:ext cx="8503920" cy="1508760"/>
          </a:xfrm>
          <a:prstGeom prst="rect">
            <a:avLst/>
          </a:prstGeom>
          <a:solidFill>
            <a:srgbClr val="EBF3FB"/>
          </a:solidFill>
          <a:ln w="12700">
            <a:solidFill>
              <a:srgbClr val="2E5FA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3649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Output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-2.1106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4206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06040" y="4206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09160" y="4206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(alpha)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1228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12.4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12280" y="4206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E5FA3">
              <a:alpha val="30000"/>
            </a:srgbClr>
          </a:solidFill>
          <a:ln w="12700">
            <a:solidFill>
              <a:srgbClr val="2E5FA3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1188720"/>
          </a:xfrm>
          <a:prstGeom prst="rect">
            <a:avLst/>
          </a:prstGeom>
          <a:solidFill>
            <a:srgbClr val="243B55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0058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Fail to Reject H₀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15361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0.9734  &gt;  α = 0.05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863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Day mean: 8.05 hrs  vs  Non-Work Day mean: 6.88 hrs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was NOT statistically significant at the 0.05 level.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negative t-statistic (t = −2.11) shows the direction was opposite to H₁ —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work days averaged MORE sleep, not less.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have sufficient evidence to support the alternative hypothesis.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2743200"/>
          </a:xfrm>
          <a:prstGeom prst="rect">
            <a:avLst/>
          </a:prstGeom>
          <a:solidFill>
            <a:srgbClr val="EBF3FB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138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was collected over 21 days (April 6–26, 2026), tracking bedtime and wake-up time each day.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were classified as Work Days (School or Work) or Non-Work Days (Day Off).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one-tailed Welch t-test was conducted at α = 0.05.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(t = −2.11, p = 0.9734) led us to FAIL TO REJECT the null hypothesis.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statistically significant difference in sleep hours was found between work days and non-work days.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3886200"/>
            <a:ext cx="8503920" cy="960120"/>
          </a:xfrm>
          <a:prstGeom prst="rect">
            <a:avLst/>
          </a:prstGeom>
          <a:solidFill>
            <a:srgbClr val="FFF4EE"/>
          </a:solidFill>
          <a:ln w="12700">
            <a:solidFill>
              <a:srgbClr val="E07B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What I Learned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42245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doesn't always match our expectations — and that is a valid and important scientific outcome.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06908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109728" cy="1143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143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Small Sample Size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" y="149047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21 days total (14 work, 7 non-work). More data would increase statistical power.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06908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109728" cy="1143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143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Unequal Group Sizes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56048" y="149047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 as many work days as days off, which can influence test reliability.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77440"/>
            <a:ext cx="406908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77440"/>
            <a:ext cx="109728" cy="1143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468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Self-Reported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" y="281635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Bedtimes and wake times were manually recorded and may contain minor inaccuracies.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06908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377440"/>
            <a:ext cx="109728" cy="1143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2468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Short Time Window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56048" y="281635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weeks may not represent typical long-term sleep patterns.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703320"/>
            <a:ext cx="406908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703320"/>
            <a:ext cx="109728" cy="1143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7947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 Sleep Quality Not Measured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" y="414223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duration was tracked — quality and depth of sleep were not captured.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703320"/>
            <a:ext cx="406908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703320"/>
            <a:ext cx="109728" cy="11430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7947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📆  External Factors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56048" y="414223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End-of-semester stress or schedule changes may have affected results.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E5FA3">
              <a:alpha val="30000"/>
            </a:srgbClr>
          </a:solidFill>
          <a:ln w="12700">
            <a:solidFill>
              <a:srgbClr val="2E5FA3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4A9FD4">
              <a:alpha val="20000"/>
            </a:srgbClr>
          </a:solidFill>
          <a:ln w="12700">
            <a:solidFill>
              <a:srgbClr val="4A9FD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743200" cy="4572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211 – Dear Data Project  |  Spring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solidFill>
            <a:srgbClr val="243B55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45059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 Repository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github.com/[your-username]/DATA211-Sleep-Tracker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9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Sleep Tracker – DATA 211 Course Project</dc:title>
  <dc:subject>PptxGenJS Presentation</dc:subject>
  <dc:creator>PptxGenJS</dc:creator>
  <cp:lastModifiedBy>PptxGenJS</cp:lastModifiedBy>
  <cp:revision>1</cp:revision>
  <dcterms:created xsi:type="dcterms:W3CDTF">2026-04-28T03:18:37Z</dcterms:created>
  <dcterms:modified xsi:type="dcterms:W3CDTF">2026-04-28T03:18:37Z</dcterms:modified>
</cp:coreProperties>
</file>