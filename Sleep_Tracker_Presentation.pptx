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charts/chart2.xml" ContentType="application/vnd.openxmlformats-officedocument.drawingml.chart+xml"/>
  <Override PartName="/ppt/notesSlides/notesSlide9.xml" ContentType="application/vnd.openxmlformats-officedocument.presentationml.notesSlide+xml"/>
  <Override PartName="/ppt/charts/chart3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364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2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300" b="0" i="0" u="none" strike="noStrike">
                <a:solidFill>
                  <a:srgbClr val="000000"/>
                </a:solidFill>
                <a:latin typeface="Arial"/>
              </a:rPr>
              <a:t>Average Sleep Hours by Day Type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Mean Sleep Hours</c:v>
                </c:pt>
              </c:strCache>
            </c:strRef>
          </c:tx>
          <c:spPr>
            <a:solidFill>
              <a:srgbClr val="F17F4E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17F4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69D5-E149-A581-FFEE3C8FA496}"/>
              </c:ext>
            </c:extLst>
          </c:dPt>
          <c:dPt>
            <c:idx val="1"/>
            <c:invertIfNegative val="0"/>
            <c:bubble3D val="0"/>
            <c:spPr>
              <a:solidFill>
                <a:srgbClr val="4E9AF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69D5-E149-A581-FFEE3C8FA496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Non-Work Days</c:v>
                </c:pt>
                <c:pt idx="1">
                  <c:v>Work Days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6.88</c:v>
                </c:pt>
                <c:pt idx="1">
                  <c:v>8.0500000000000007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9D5-E149-A581-FFEE3C8FA49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300" b="0" i="0" u="none" strike="noStrike">
                <a:solidFill>
                  <a:srgbClr val="000000"/>
                </a:solidFill>
                <a:latin typeface="Arial"/>
              </a:rPr>
              <a:t>Daily Sleep Hours — April 6 to April 26, 2026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Sleep Hours</c:v>
                </c:pt>
              </c:strCache>
            </c:strRef>
          </c:tx>
          <c:spPr>
            <a:ln w="31750" cap="flat">
              <a:solidFill>
                <a:srgbClr val="4E9AF1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4E9AF1"/>
              </a:solidFill>
              <a:ln w="9525" cap="flat">
                <a:solidFill>
                  <a:srgbClr val="4E9AF1"/>
                </a:solidFill>
                <a:prstDash val="solid"/>
                <a:round/>
              </a:ln>
              <a:effectLst/>
            </c:spPr>
          </c:marker>
          <c:cat>
            <c:strRef>
              <c:f>Sheet1!$A$2:$A$22</c:f>
              <c:strCache>
                <c:ptCount val="21"/>
                <c:pt idx="0">
                  <c:v>Apr 6</c:v>
                </c:pt>
                <c:pt idx="1">
                  <c:v>Apr 7</c:v>
                </c:pt>
                <c:pt idx="2">
                  <c:v>Apr 8</c:v>
                </c:pt>
                <c:pt idx="3">
                  <c:v>Apr 9</c:v>
                </c:pt>
                <c:pt idx="4">
                  <c:v>Apr 10</c:v>
                </c:pt>
                <c:pt idx="5">
                  <c:v>Apr 11</c:v>
                </c:pt>
                <c:pt idx="6">
                  <c:v>Apr 12</c:v>
                </c:pt>
                <c:pt idx="7">
                  <c:v>Apr 13</c:v>
                </c:pt>
                <c:pt idx="8">
                  <c:v>Apr 14</c:v>
                </c:pt>
                <c:pt idx="9">
                  <c:v>Apr 15</c:v>
                </c:pt>
                <c:pt idx="10">
                  <c:v>Apr 16</c:v>
                </c:pt>
                <c:pt idx="11">
                  <c:v>Apr 17</c:v>
                </c:pt>
                <c:pt idx="12">
                  <c:v>Apr 18</c:v>
                </c:pt>
                <c:pt idx="13">
                  <c:v>Apr 19</c:v>
                </c:pt>
                <c:pt idx="14">
                  <c:v>Apr 20</c:v>
                </c:pt>
                <c:pt idx="15">
                  <c:v>Apr 21</c:v>
                </c:pt>
                <c:pt idx="16">
                  <c:v>Apr 22</c:v>
                </c:pt>
                <c:pt idx="17">
                  <c:v>Apr 23</c:v>
                </c:pt>
                <c:pt idx="18">
                  <c:v>Apr 24</c:v>
                </c:pt>
                <c:pt idx="19">
                  <c:v>Apr 25</c:v>
                </c:pt>
                <c:pt idx="20">
                  <c:v>Apr 26</c:v>
                </c:pt>
              </c:strCache>
            </c:strRef>
          </c:cat>
          <c:val>
            <c:numRef>
              <c:f>Sheet1!$B$2:$B$22</c:f>
              <c:numCache>
                <c:formatCode>General</c:formatCode>
                <c:ptCount val="21"/>
                <c:pt idx="0">
                  <c:v>6</c:v>
                </c:pt>
                <c:pt idx="1">
                  <c:v>6</c:v>
                </c:pt>
                <c:pt idx="2">
                  <c:v>9.25</c:v>
                </c:pt>
                <c:pt idx="3">
                  <c:v>8</c:v>
                </c:pt>
                <c:pt idx="4">
                  <c:v>9</c:v>
                </c:pt>
                <c:pt idx="5">
                  <c:v>6.27</c:v>
                </c:pt>
                <c:pt idx="6">
                  <c:v>8.02</c:v>
                </c:pt>
                <c:pt idx="7">
                  <c:v>8</c:v>
                </c:pt>
                <c:pt idx="8">
                  <c:v>8.25</c:v>
                </c:pt>
                <c:pt idx="9">
                  <c:v>7.5</c:v>
                </c:pt>
                <c:pt idx="10">
                  <c:v>4.5</c:v>
                </c:pt>
                <c:pt idx="11">
                  <c:v>7.5</c:v>
                </c:pt>
                <c:pt idx="12">
                  <c:v>8.66</c:v>
                </c:pt>
                <c:pt idx="13">
                  <c:v>9</c:v>
                </c:pt>
                <c:pt idx="14">
                  <c:v>8.82</c:v>
                </c:pt>
                <c:pt idx="15">
                  <c:v>8</c:v>
                </c:pt>
                <c:pt idx="16">
                  <c:v>7</c:v>
                </c:pt>
                <c:pt idx="17">
                  <c:v>8.82</c:v>
                </c:pt>
                <c:pt idx="18">
                  <c:v>8.17</c:v>
                </c:pt>
                <c:pt idx="19">
                  <c:v>5.15</c:v>
                </c:pt>
                <c:pt idx="20">
                  <c:v>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A0A-0849-8833-48A396E47AD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1"/>
          <c:min val="3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300" b="0" i="0" u="none" strike="noStrike">
                <a:solidFill>
                  <a:srgbClr val="000000"/>
                </a:solidFill>
                <a:latin typeface="Arial"/>
              </a:rPr>
              <a:t>Average Sleep: School vs No School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Sleep Hours</c:v>
                </c:pt>
              </c:strCache>
            </c:strRef>
          </c:tx>
          <c:spPr>
            <a:solidFill>
              <a:srgbClr val="9B59B6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7ABF-CB48-AE96-C728AACC8720}"/>
              </c:ext>
            </c:extLst>
          </c:dPt>
          <c:dPt>
            <c:idx val="1"/>
            <c:invertIfNegative val="0"/>
            <c:bubble3D val="0"/>
            <c:spPr>
              <a:solidFill>
                <a:srgbClr val="27AE6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7ABF-CB48-AE96-C728AACC8720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School Days</c:v>
                </c:pt>
                <c:pt idx="1">
                  <c:v>No School Days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7.36</c:v>
                </c:pt>
                <c:pt idx="1">
                  <c:v>7.78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7ABF-CB48-AE96-C728AACC872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903315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83F4D37-0F15-D737-60E1-A9E28A3E3896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4927600"/>
            <a:ext cx="44926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Internal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274320"/>
            <a:ext cx="2560320" cy="2560320"/>
          </a:xfrm>
          <a:prstGeom prst="ellipse">
            <a:avLst/>
          </a:prstGeom>
          <a:solidFill>
            <a:srgbClr val="4E9AF1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498080" y="548640"/>
            <a:ext cx="1920240" cy="1920240"/>
          </a:xfrm>
          <a:prstGeom prst="ellipse">
            <a:avLst/>
          </a:prstGeom>
          <a:solidFill>
            <a:srgbClr val="4E9AF1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589520" y="77724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i="1" dirty="0">
                <a:solidFill>
                  <a:srgbClr val="CADCFC"/>
                </a:solidFill>
              </a:rPr>
              <a:t>z z z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502920"/>
            <a:ext cx="1645920" cy="347472"/>
          </a:xfrm>
          <a:prstGeom prst="roundRect">
            <a:avLst>
              <a:gd name="adj" fmla="val 13158"/>
            </a:avLst>
          </a:prstGeom>
          <a:solidFill>
            <a:srgbClr val="4E9A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50292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DATA 211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051560"/>
            <a:ext cx="6583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 Tracker Analysis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457200" y="2103120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Dear Data Project — DATA 211 Course Project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2697480"/>
            <a:ext cx="3200400" cy="36576"/>
          </a:xfrm>
          <a:prstGeom prst="rect">
            <a:avLst/>
          </a:prstGeom>
          <a:solidFill>
            <a:srgbClr val="4E9A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" y="28803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6 – April 26, 2026  •  21 Days of Data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3703320"/>
            <a:ext cx="1920240" cy="109728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374904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57200" y="431596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Days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606040" y="3703320"/>
            <a:ext cx="1920240" cy="109728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606040" y="374904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2606040" y="431596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Days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0" y="3703320"/>
            <a:ext cx="1920240" cy="109728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754880" y="374904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4754880" y="431596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Non-Work Days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903720" y="3703320"/>
            <a:ext cx="1920240" cy="109728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903720" y="374904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7.65 hrs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6903720" y="431596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Sleep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Spring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411480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4114800" cy="5029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109728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This Project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374904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is inspired by the Dear Data initiative, where individuals track and visualize personal data over time. I chose to track my sleep because it directly affects my energy, focus, and daily performance.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800600" y="1097280"/>
            <a:ext cx="411480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800600" y="1097280"/>
            <a:ext cx="4114800" cy="502920"/>
          </a:xfrm>
          <a:prstGeom prst="rect">
            <a:avLst/>
          </a:prstGeom>
          <a:solidFill>
            <a:srgbClr val="4E9A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937760" y="109728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Sleep?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983480" y="1737360"/>
            <a:ext cx="374904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 is one of the most important factors in overall health and academic performance. As a student who also works, I wanted to explore how my schedule impacts how much sleep I actually get.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Data collected: April 6 – April 26, 2026  |  21 observations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 &amp; Hypotheses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4E9A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8229600" cy="1051560"/>
          </a:xfrm>
          <a:prstGeom prst="rect">
            <a:avLst/>
          </a:prstGeom>
          <a:solidFill>
            <a:srgbClr val="4E9AF1">
              <a:alpha val="85000"/>
            </a:srgbClr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 Research Question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536192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there a significant difference in mean sleep hours between Work Days and Non-Work Days?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2377440"/>
            <a:ext cx="8229600" cy="1005840"/>
          </a:xfrm>
          <a:prstGeom prst="rect">
            <a:avLst/>
          </a:prstGeom>
          <a:solidFill>
            <a:srgbClr val="2A3580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2423160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H₀  —  Null Hypothesis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74320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significant difference in the average hours of sleep between Work Days and Non-Work Days.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57200" y="3566160"/>
            <a:ext cx="8229600" cy="1005840"/>
          </a:xfrm>
          <a:prstGeom prst="rect">
            <a:avLst/>
          </a:prstGeom>
          <a:solidFill>
            <a:srgbClr val="2A3580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0080" y="3611880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17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H₁  —  Alternative Hypothesis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393192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a significant difference in the average hours of sleep between Work Days and Non-Work Days.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Two-tailed test  •  Significance level α = 0.05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 Method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420624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640080" cy="10515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1097280"/>
            <a:ext cx="6400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📅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114300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1444752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weeks: April 6 – April 26, 2026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097280"/>
            <a:ext cx="420624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754880" y="1097280"/>
            <a:ext cx="640080" cy="10515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754880" y="1097280"/>
            <a:ext cx="6400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486400" y="114300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0" y="1444752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Date, Day of Week, Day Type (Work/Non-Work), Bedtime, Wake-Up Time, Sleep Hours, School (Yes/No)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2331720"/>
            <a:ext cx="420624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74320" y="2331720"/>
            <a:ext cx="640080" cy="10515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74320" y="2331720"/>
            <a:ext cx="6400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✍️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05840" y="237744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Recording Method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05840" y="2679192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Manually recorded daily in Microsoft Excel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2331720"/>
            <a:ext cx="420624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754880" y="2331720"/>
            <a:ext cx="640080" cy="10515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754880" y="2331720"/>
            <a:ext cx="6400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🔢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486400" y="237744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86400" y="2679192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total — 14 Work Days, 7 Non-Work Days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3566160"/>
            <a:ext cx="420624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274320" y="3566160"/>
            <a:ext cx="640080" cy="10515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274320" y="3566160"/>
            <a:ext cx="6400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⚠️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005840" y="361188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Issues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05840" y="3913632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Self-reported times may include rounding; some days had irregular schedules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754880" y="3566160"/>
            <a:ext cx="420624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754880" y="3566160"/>
            <a:ext cx="640080" cy="10515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754880" y="3566160"/>
            <a:ext cx="6400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📐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486400" y="361188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486400" y="3913632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 hours measured in decimal hours (e.g., 8.5 = 8 hrs 30 min)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274320" y="6583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Sleep Log — April 6 to April 26, 2026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60120"/>
          <a:ext cx="5943600" cy="5204460"/>
        </p:xfrm>
        <a:graphic>
          <a:graphicData uri="http://schemas.openxmlformats.org/drawingml/2006/table">
            <a:tbl>
              <a:tblPr/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8080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Date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Day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Day Type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Bedtime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Wake-Up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Sleep Hrs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School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80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Apr 6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Mon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Work Day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11:30pm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5:30am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6.00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Yes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080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Apr 7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Tue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Non-Work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11:40pm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5:40am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6.00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No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080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Apr 8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Wed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Work Day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10:45pm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8:00am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9.25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No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080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Apr 9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Thu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Work Day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1:00am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9:00am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8.00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Yes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080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Apr 10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Fri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Work Day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12:00am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9:00am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9.00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No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080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Apr 11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Sat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Non-Work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11:24pm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5:40am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6.27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No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080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Apr 12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Sun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Work Day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12:00am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8:12am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8.02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No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080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Apr 13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Mon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Work Day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12:00am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8:00am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8.00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Yes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8080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Apr 14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Tue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Non-Work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1:00am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8:15am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8.25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No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080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Apr 15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Wed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Non-Work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1:30am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9:00am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7.50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No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8080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Apr 16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Thu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Work Day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12:00am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4:30am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4.50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Yes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8080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Apr 17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Fri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Work Day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11:00pm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5:30am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7.50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No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8080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Apr 18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Sat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Work Day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1:00am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8:40am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8.66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No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8080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Apr 19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Sun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Work Day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12:00am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9:00am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9.00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No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8080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Apr 20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Mon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Work Day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11:45pm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8:11am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8.82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Yes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8080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Apr 21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Tue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Non-Work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12:00am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8:00am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8.00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No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8080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Apr 22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Wed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Non-Work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11:00pm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5:00am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7.00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No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8080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Apr 23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Thu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Work Day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11:23pm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8:10am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8.82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Yes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8080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Apr 24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Fri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Work Day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12:00am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8:10am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8.17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No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8080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Apr 25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Sat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Non-Work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11:30pm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4:45am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5.15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No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8080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Apr 26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Sun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Work Day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12:00am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9:00am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9.00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No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Statistics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4114800" cy="3931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4114800" cy="548640"/>
          </a:xfrm>
          <a:prstGeom prst="rect">
            <a:avLst/>
          </a:prstGeom>
          <a:solidFill>
            <a:srgbClr val="4E9A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96012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Days  (n = 14)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1627632"/>
            <a:ext cx="3749040" cy="530352"/>
          </a:xfrm>
          <a:prstGeom prst="rect">
            <a:avLst/>
          </a:prstGeom>
          <a:solidFill>
            <a:srgbClr val="F4F7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85800" y="1700784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286000" y="1700784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4E9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8.05 hrs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2258568"/>
            <a:ext cx="3749040" cy="53035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85800" y="233172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286000" y="233172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4E9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8.41 hrs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2889504"/>
            <a:ext cx="3749040" cy="530352"/>
          </a:xfrm>
          <a:prstGeom prst="rect">
            <a:avLst/>
          </a:prstGeom>
          <a:solidFill>
            <a:srgbClr val="F4F7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85800" y="2962656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 Dev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286000" y="2962656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4E9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1.33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3520440"/>
            <a:ext cx="3749040" cy="53035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85800" y="3593592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86000" y="3593592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4E9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4.50 hrs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4151376"/>
            <a:ext cx="3749040" cy="530352"/>
          </a:xfrm>
          <a:prstGeom prst="rect">
            <a:avLst/>
          </a:prstGeom>
          <a:solidFill>
            <a:srgbClr val="F4F7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85800" y="4224528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286000" y="4224528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4E9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9.25 hrs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800600" y="960120"/>
            <a:ext cx="4114800" cy="3931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800600" y="960120"/>
            <a:ext cx="4114800" cy="548640"/>
          </a:xfrm>
          <a:prstGeom prst="rect">
            <a:avLst/>
          </a:prstGeom>
          <a:solidFill>
            <a:srgbClr val="F17F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937760" y="96012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Non-Work Days  (n = 7)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4983480" y="1627632"/>
            <a:ext cx="3749040" cy="530352"/>
          </a:xfrm>
          <a:prstGeom prst="rect">
            <a:avLst/>
          </a:prstGeom>
          <a:solidFill>
            <a:srgbClr val="F4F7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120640" y="1700784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720840" y="1700784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17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6.88 hrs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983480" y="2258568"/>
            <a:ext cx="3749040" cy="53035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120640" y="233172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720840" y="233172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17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7.00 hrs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4983480" y="2889504"/>
            <a:ext cx="3749040" cy="530352"/>
          </a:xfrm>
          <a:prstGeom prst="rect">
            <a:avLst/>
          </a:prstGeom>
          <a:solidFill>
            <a:srgbClr val="F4F7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120640" y="2962656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 Dev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720840" y="2962656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17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1.13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4983480" y="3520440"/>
            <a:ext cx="3749040" cy="53035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120640" y="3593592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720840" y="3593592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17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5.15 hrs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4983480" y="4151376"/>
            <a:ext cx="3749040" cy="530352"/>
          </a:xfrm>
          <a:prstGeom prst="rect">
            <a:avLst/>
          </a:prstGeom>
          <a:solidFill>
            <a:srgbClr val="F4F7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5120640" y="4224528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720840" y="4224528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17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8.25 hrs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22860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Visualization: Sleep by Day Type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914400"/>
          <a:ext cx="5303520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760720" y="914400"/>
            <a:ext cx="3200400" cy="38404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5897880" y="10058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897880" y="1508760"/>
            <a:ext cx="2926080" cy="502920"/>
          </a:xfrm>
          <a:prstGeom prst="rect">
            <a:avLst/>
          </a:prstGeom>
          <a:solidFill>
            <a:srgbClr val="F4F7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5897880" y="1508760"/>
            <a:ext cx="54864" cy="502920"/>
          </a:xfrm>
          <a:prstGeom prst="rect">
            <a:avLst/>
          </a:prstGeom>
          <a:solidFill>
            <a:srgbClr val="4E9A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016752" y="1545336"/>
            <a:ext cx="18288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Days Avg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498080" y="1545336"/>
            <a:ext cx="11887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8.05 hrs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897880" y="2130552"/>
            <a:ext cx="2926080" cy="502920"/>
          </a:xfrm>
          <a:prstGeom prst="rect">
            <a:avLst/>
          </a:prstGeom>
          <a:solidFill>
            <a:srgbClr val="F4F7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5897880" y="2130552"/>
            <a:ext cx="54864" cy="502920"/>
          </a:xfrm>
          <a:prstGeom prst="rect">
            <a:avLst/>
          </a:prstGeom>
          <a:solidFill>
            <a:srgbClr val="F17F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016752" y="2167128"/>
            <a:ext cx="18288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Non-Work Days Avg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7498080" y="2167128"/>
            <a:ext cx="11887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6.88 hrs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897880" y="2752344"/>
            <a:ext cx="2926080" cy="502920"/>
          </a:xfrm>
          <a:prstGeom prst="rect">
            <a:avLst/>
          </a:prstGeom>
          <a:solidFill>
            <a:srgbClr val="F4F7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5897880" y="2752344"/>
            <a:ext cx="54864" cy="5029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6016752" y="2788920"/>
            <a:ext cx="18288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Difference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7498080" y="2788920"/>
            <a:ext cx="11887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1.17 hrs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5897880" y="3374136"/>
            <a:ext cx="2926080" cy="502920"/>
          </a:xfrm>
          <a:prstGeom prst="rect">
            <a:avLst/>
          </a:prstGeom>
          <a:solidFill>
            <a:srgbClr val="F4F7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5897880" y="3374136"/>
            <a:ext cx="54864" cy="502920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6016752" y="3410712"/>
            <a:ext cx="18288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Days n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7498080" y="3410712"/>
            <a:ext cx="11887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days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5897880" y="3995928"/>
            <a:ext cx="2926080" cy="502920"/>
          </a:xfrm>
          <a:prstGeom prst="rect">
            <a:avLst/>
          </a:prstGeom>
          <a:solidFill>
            <a:srgbClr val="F4F7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5897880" y="3995928"/>
            <a:ext cx="54864" cy="502920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6016752" y="4032504"/>
            <a:ext cx="18288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Non-Work Days n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7498080" y="4032504"/>
            <a:ext cx="11887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days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22860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Visualization: Sleep Hours Over Time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914400"/>
          <a:ext cx="859536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22860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Visualization: Sleep &amp; School Days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914400"/>
          <a:ext cx="5029200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486400" y="914400"/>
            <a:ext cx="3474720" cy="38404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5623560" y="10058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Day Stats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623560" y="1508760"/>
            <a:ext cx="3200400" cy="1325880"/>
          </a:xfrm>
          <a:prstGeom prst="rect">
            <a:avLst/>
          </a:prstGeom>
          <a:solidFill>
            <a:srgbClr val="F4F7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5623560" y="1508760"/>
            <a:ext cx="64008" cy="1325880"/>
          </a:xfrm>
          <a:prstGeom prst="rect">
            <a:avLst/>
          </a:prstGeom>
          <a:solidFill>
            <a:srgbClr val="9B59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742432" y="155448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Days (n=6)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742432" y="189280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Mean: 7.36 hrs   SD: 1.74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742432" y="217627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Min: 4.50 hrs   Max: 8.82 hrs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742432" y="24688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days show slightly less sleep on average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5623560" y="3017520"/>
            <a:ext cx="3200400" cy="1325880"/>
          </a:xfrm>
          <a:prstGeom prst="rect">
            <a:avLst/>
          </a:prstGeom>
          <a:solidFill>
            <a:srgbClr val="F4F7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5623560" y="3017520"/>
            <a:ext cx="64008" cy="1325880"/>
          </a:xfrm>
          <a:prstGeom prst="rect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5742432" y="306324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School (n=15)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742432" y="340156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Mean: 7.78 hrs   SD: 1.23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742432" y="368503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Min: 5.15 hrs   Max: 9.25 hrs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5742432" y="39776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days show slightly less sleep on average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Test Results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36576"/>
          </a:xfrm>
          <a:prstGeom prst="rect">
            <a:avLst/>
          </a:prstGeom>
          <a:solidFill>
            <a:srgbClr val="4E9A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200400" cy="384048"/>
          </a:xfrm>
          <a:prstGeom prst="roundRect">
            <a:avLst>
              <a:gd name="adj" fmla="val 11905"/>
            </a:avLst>
          </a:prstGeom>
          <a:solidFill>
            <a:srgbClr val="4E9A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Welch Two-Sample T-Test  (two-tailed)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2560320" cy="1371600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627632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4E9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-2.1106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457200" y="23317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t-statistic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6060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statistic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91840" y="1554480"/>
            <a:ext cx="2560320" cy="1371600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291840" y="1627632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4E9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14.022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3291840" y="23317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91840" y="26060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degrees of freedom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126480" y="1554480"/>
            <a:ext cx="2560320" cy="1371600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126480" y="1627632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4E9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0.0533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6126480" y="23317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p-value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126480" y="26060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0.05 threshold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7200" y="3063240"/>
            <a:ext cx="3931920" cy="1005840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94360" y="312724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 Confidence Interval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94360" y="342900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(-2.3617,  0.0188)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4572000" y="3063240"/>
            <a:ext cx="4114800" cy="1005840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709160" y="312724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Means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709160" y="3456432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E9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Days: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8.05 hrs     </a:t>
            </a:r>
            <a:r>
              <a:rPr lang="en-US" sz="1400" b="1" dirty="0">
                <a:solidFill>
                  <a:srgbClr val="F17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Non-Work: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6.88 hrs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57200" y="4206240"/>
            <a:ext cx="8229600" cy="685800"/>
          </a:xfrm>
          <a:prstGeom prst="rect">
            <a:avLst/>
          </a:prstGeom>
          <a:solidFill>
            <a:srgbClr val="F17F4E">
              <a:alpha val="80000"/>
            </a:srgbClr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94360" y="4233672"/>
            <a:ext cx="79552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Decision: Fail to Reject H₀  —  p-value (0.053) &gt; α (0.05)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 of Results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20624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4206240" cy="475488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84048" y="1060704"/>
            <a:ext cx="3977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  No Significant Difference Found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1554480"/>
            <a:ext cx="3931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Since p = 0.053 &gt; α = 0.05, we fail to reject the null hypothesis. There is insufficient statistical evidence to conclude a significant difference in sleep hours between work and non-work days.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709160" y="1005840"/>
            <a:ext cx="420624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709160" y="1005840"/>
            <a:ext cx="4206240" cy="475488"/>
          </a:xfrm>
          <a:prstGeom prst="rect">
            <a:avLst/>
          </a:prstGeom>
          <a:solidFill>
            <a:srgbClr val="4E9A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818888" y="1060704"/>
            <a:ext cx="3977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Borderline Result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46320" y="1554480"/>
            <a:ext cx="3931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p-value is very close to 0.05, suggesting a trend toward a difference exists. A larger sample size might yield a statistically significant result.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74320" y="2926080"/>
            <a:ext cx="420624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74320" y="2926080"/>
            <a:ext cx="4206240" cy="475488"/>
          </a:xfrm>
          <a:prstGeom prst="rect">
            <a:avLst/>
          </a:prstGeom>
          <a:solidFill>
            <a:srgbClr val="F17F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84048" y="2980944"/>
            <a:ext cx="3977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Unexpected Direction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11480" y="3474720"/>
            <a:ext cx="3931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Surprisingly, Work Days averaged more sleep (8.05 hrs) than Non-Work Days (6.88 hrs) — the opposite of the expected pattern. This may reflect irregular non-work day schedules.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709160" y="2926080"/>
            <a:ext cx="420624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709160" y="2926080"/>
            <a:ext cx="4206240" cy="475488"/>
          </a:xfrm>
          <a:prstGeom prst="rect">
            <a:avLst/>
          </a:prstGeom>
          <a:solidFill>
            <a:srgbClr val="9B59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818888" y="2980944"/>
            <a:ext cx="3977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 School Day Impact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46320" y="3474720"/>
            <a:ext cx="3931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days averaged slightly less sleep (7.36 hrs) compared to non-school days (7.78 hrs), suggesting school scheduling does have a modest effect on sleep duration.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886968"/>
            <a:ext cx="8229600" cy="36576"/>
          </a:xfrm>
          <a:prstGeom prst="rect">
            <a:avLst/>
          </a:prstGeom>
          <a:solidFill>
            <a:srgbClr val="4E9A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the Two-Sample t-test, there is no statistically significant difference in average sleep hours between Work Days and Non-Work Days at the α = 0.05 level (t = -2.11, df = 14.02, p = 0.053).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075688"/>
            <a:ext cx="8229600" cy="548640"/>
          </a:xfrm>
          <a:prstGeom prst="rect">
            <a:avLst/>
          </a:prstGeom>
          <a:solidFill>
            <a:srgbClr val="FFFFFF">
              <a:alpha val="8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210312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✅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2148840"/>
            <a:ext cx="7406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 to reject H₀ — p-value (0.053) exceeds significance threshold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761488"/>
            <a:ext cx="8229600" cy="548640"/>
          </a:xfrm>
          <a:prstGeom prst="rect">
            <a:avLst/>
          </a:prstGeom>
          <a:solidFill>
            <a:srgbClr val="FFFFFF">
              <a:alpha val="8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2761488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📊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97280" y="2807208"/>
            <a:ext cx="7406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Days averaged 1.17 more hours of sleep than Non-Work Days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419856"/>
            <a:ext cx="8229600" cy="548640"/>
          </a:xfrm>
          <a:prstGeom prst="rect">
            <a:avLst/>
          </a:prstGeom>
          <a:solidFill>
            <a:srgbClr val="FFFFFF">
              <a:alpha val="8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48640" y="3419856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📚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97280" y="3465576"/>
            <a:ext cx="7406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days had slightly less sleep — 7.36 hrs vs 7.78 hrs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4078224"/>
            <a:ext cx="8229600" cy="548640"/>
          </a:xfrm>
          <a:prstGeom prst="rect">
            <a:avLst/>
          </a:prstGeom>
          <a:solidFill>
            <a:srgbClr val="FFFFFF">
              <a:alpha val="8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48640" y="4078224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🔬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97280" y="4123944"/>
            <a:ext cx="7406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Borderline result suggests more data may reveal significance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Overall, this project showed that my sleep patterns are more consistent than expected across day types.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8686800" cy="694944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594360" cy="694944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960120"/>
            <a:ext cx="5943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996696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Sample Size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1307592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21 days of data. The small sample limits statistical power and may not represent long-term sleep patterns.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1764792"/>
            <a:ext cx="8686800" cy="694944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74320" y="1764792"/>
            <a:ext cx="594360" cy="694944"/>
          </a:xfrm>
          <a:prstGeom prst="rect">
            <a:avLst/>
          </a:prstGeom>
          <a:solidFill>
            <a:srgbClr val="4E9A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74320" y="1764792"/>
            <a:ext cx="5943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5840" y="1801368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E9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Imbalanced Groups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05840" y="2112264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Work Days vs only 7 Non-Work Days — the unequal group sizes may affect the reliability of comparison.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2569464"/>
            <a:ext cx="8686800" cy="694944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74320" y="2569464"/>
            <a:ext cx="594360" cy="694944"/>
          </a:xfrm>
          <a:prstGeom prst="rect">
            <a:avLst/>
          </a:prstGeom>
          <a:solidFill>
            <a:srgbClr val="F17F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74320" y="2569464"/>
            <a:ext cx="5943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05840" y="2606040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17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Self-Reported Data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05840" y="2916936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Bedtime and wake-up times were recorded manually, which may introduce rounding or recall errors.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3374136"/>
            <a:ext cx="8686800" cy="694944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274320" y="3374136"/>
            <a:ext cx="594360" cy="694944"/>
          </a:xfrm>
          <a:prstGeom prst="rect">
            <a:avLst/>
          </a:prstGeom>
          <a:solidFill>
            <a:srgbClr val="9B59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74320" y="3374136"/>
            <a:ext cx="5943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05840" y="3410712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Tracking Period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05840" y="3721608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weeks may not capture seasonal or long-term patterns in sleep behavior.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4178808"/>
            <a:ext cx="8686800" cy="694944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274320" y="4178808"/>
            <a:ext cx="594360" cy="694944"/>
          </a:xfrm>
          <a:prstGeom prst="rect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274320" y="4178808"/>
            <a:ext cx="5943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005840" y="4215384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Confounding Variables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05840" y="4526280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Factors like stress, social activities, caffeine, or illness were not tracked and may have influenced results.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Learned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20624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548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60120" y="1078992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Process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60120" y="1417320"/>
            <a:ext cx="3383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learned the full pipeline — from collecting raw data, cleaning it in Excel, analyzing in R, and presenting results in a meaningful way.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005840"/>
            <a:ext cx="420624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846320" y="1005840"/>
            <a:ext cx="548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🔬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440680" y="1078992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Testing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40680" y="1417320"/>
            <a:ext cx="3383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applied a Welch t-test for the first time on real personal data, and learned how to interpret a p-value and make data-driven decisions.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2331720"/>
            <a:ext cx="420624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65760" y="2331720"/>
            <a:ext cx="548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📈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60120" y="2404872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 in 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60120" y="2743200"/>
            <a:ext cx="3383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built multiple chart types using ggplot2 — box plots, bar charts, line graphs, and histograms — each revealing a different angle of my data.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2331720"/>
            <a:ext cx="420624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846320" y="2331720"/>
            <a:ext cx="548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💡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440680" y="2404872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Insight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40680" y="2743200"/>
            <a:ext cx="3383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discovered my sleep patterns were more consistent than I expected. Work days didn't necessarily mean less sleep — schedule and routine matter more.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3657600"/>
            <a:ext cx="420624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65760" y="3657600"/>
            <a:ext cx="548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🗂️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960120" y="3730752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Management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60120" y="4069080"/>
            <a:ext cx="3383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Managing checkpoints, GitHub uploads, and deadlines taught me how to structure a data science project from start to finish.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54880" y="3657600"/>
            <a:ext cx="420624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846320" y="3657600"/>
            <a:ext cx="548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⚠️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5440680" y="3730752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Matter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440680" y="4069080"/>
            <a:ext cx="3383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size and data quality directly affect your conclusions. A borderline p-value taught me that more data almost always leads to better insights.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2286000"/>
            <a:ext cx="3200400" cy="3200400"/>
          </a:xfrm>
          <a:prstGeom prst="ellipse">
            <a:avLst/>
          </a:prstGeom>
          <a:solidFill>
            <a:srgbClr val="4E9AF1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731520" y="-731520"/>
            <a:ext cx="2743200" cy="2743200"/>
          </a:xfrm>
          <a:prstGeom prst="ellipse">
            <a:avLst/>
          </a:prstGeom>
          <a:solidFill>
            <a:srgbClr val="F17F4E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 Tracker Analysis — DATA 211 Course Project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371600" y="2148840"/>
            <a:ext cx="6400800" cy="1005840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508760" y="2212848"/>
            <a:ext cx="6126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GitHub Repository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508760" y="2542032"/>
            <a:ext cx="6126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github.com/[your-username]/sleep-tracker-data211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1520" y="3474720"/>
            <a:ext cx="1828800" cy="1005840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31520" y="3520440"/>
            <a:ext cx="1828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 Duration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4059936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0" y="3474720"/>
            <a:ext cx="1828800" cy="1005840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743200" y="3520440"/>
            <a:ext cx="1828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Welch T-Test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743200" y="4059936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Used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54880" y="3474720"/>
            <a:ext cx="1828800" cy="1005840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754880" y="3520440"/>
            <a:ext cx="1828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0.053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754880" y="4059936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p-value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766560" y="3474720"/>
            <a:ext cx="1828800" cy="1005840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766560" y="3520440"/>
            <a:ext cx="1828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 to Reject H₀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766560" y="4059936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46634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9e1119c0-5c41-4899-bacb-d4a8ade03a2e}" enabled="1" method="Standard" siteId="{c69834d0-4147-4777-891d-a7dcdee2d566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1348</Words>
  <Application>Microsoft Macintosh PowerPoint</Application>
  <PresentationFormat>On-screen Show (16:9)</PresentationFormat>
  <Paragraphs>351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Sleep Tracker Analysis — DATA 211</dc:title>
  <dc:subject>PptxGenJS Presentation</dc:subject>
  <dc:creator>PptxGenJS</dc:creator>
  <cp:lastModifiedBy>Mohamed, Mohamed S</cp:lastModifiedBy>
  <cp:revision>2</cp:revision>
  <dcterms:created xsi:type="dcterms:W3CDTF">2026-04-30T02:28:39Z</dcterms:created>
  <dcterms:modified xsi:type="dcterms:W3CDTF">2026-04-30T02:37:47Z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Office Theme:3</vt:lpwstr>
  </property>
  <property fmtid="{D5CDD505-2E9C-101B-9397-08002B2CF9AE}" pid="3" name="ClassificationContentMarkingFooterText">
    <vt:lpwstr>Internal</vt:lpwstr>
  </property>
</Properties>
</file>